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521" r:id="rId1"/>
  </p:sldMasterIdLst>
  <p:notesMasterIdLst>
    <p:notesMasterId r:id="rId3"/>
  </p:notesMasterIdLst>
  <p:sldIdLst>
    <p:sldId id="320" r:id="rId2"/>
  </p:sldIdLst>
  <p:sldSz cx="12192000" cy="6858000"/>
  <p:notesSz cx="6858000" cy="9144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Roboto" panose="02000000000000000000" pitchFamily="2" charset="0"/>
      <p:regular r:id="rId8"/>
      <p:bold r:id="rId9"/>
      <p:italic r:id="rId10"/>
      <p:boldItalic r:id="rId11"/>
    </p:embeddedFont>
    <p:embeddedFont>
      <p:font typeface="Roboto Light" panose="02000000000000000000" pitchFamily="2" charset="0"/>
      <p:regular r:id="rId12"/>
      <p:italic r:id="rId13"/>
    </p:embeddedFont>
    <p:embeddedFont>
      <p:font typeface="Roboto Mono" panose="00000009000000000000" pitchFamily="49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A5DC2F-D1B9-87C8-830C-FA18D5F612A1}" name="Guest User" initials="GU" userId="S::urn:spo:tenantanon#4e31fdef-8b04-47cb-a9f6-8c0b2ad482e1::" providerId="AD"/>
  <p188:author id="{B72D787E-AF23-85A4-A3FA-D4A9EBACE049}" name="Venkateswara Reddi Pulagam" initials="VRP" userId="Venkateswara Reddi Pulagam" providerId="None"/>
  <p188:author id="{A1C797DD-038D-CD8F-6B07-0CAB8FBAB435}" name="Venkateswara Reddi Pulagam" initials="VP" userId="S::venkateswara.pulagam@infomagnus.com::71b04aa4-0056-4126-b7bf-26c14df74ae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E68C70-0C88-4F3E-A314-10DADFA84B7D}">
  <a:tblStyle styleId="{FDE68C70-0C88-4F3E-A314-10DADFA84B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5175" autoAdjust="0"/>
  </p:normalViewPr>
  <p:slideViewPr>
    <p:cSldViewPr snapToGrid="0">
      <p:cViewPr varScale="1">
        <p:scale>
          <a:sx n="54" d="100"/>
          <a:sy n="54" d="100"/>
        </p:scale>
        <p:origin x="1781" y="2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overview-of-github-copilot/about-github-copilot-for-individuals#how-can-users-of-github-copilot-for-individuals-control-use-of-their-code-snippets-data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g312eed20e7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/>
              <a:t>NOTE: </a:t>
            </a:r>
            <a:r>
              <a:rPr lang="en" sz="1200" b="1" dirty="0">
                <a:latin typeface="Arial"/>
                <a:ea typeface="Arial"/>
                <a:cs typeface="Arial"/>
                <a:sym typeface="Arial"/>
              </a:rPr>
              <a:t>Slide is animated</a:t>
            </a:r>
            <a:br>
              <a:rPr lang="en" sz="1200" b="1" dirty="0">
                <a:latin typeface="Arial"/>
                <a:ea typeface="Arial"/>
                <a:cs typeface="Arial"/>
                <a:sym typeface="Arial"/>
              </a:rPr>
            </a:br>
            <a:br>
              <a:rPr lang="en" sz="1200" b="1" dirty="0">
                <a:latin typeface="Arial"/>
                <a:ea typeface="Arial"/>
                <a:cs typeface="Arial"/>
                <a:sym typeface="Arial"/>
              </a:rPr>
            </a:br>
            <a:r>
              <a:rPr lang="en" sz="1200" b="1" dirty="0">
                <a:solidFill>
                  <a:schemeClr val="dk1"/>
                </a:solidFill>
              </a:rPr>
              <a:t>SPEAKER NOTES: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chemeClr val="dk1"/>
                </a:solidFill>
              </a:rPr>
              <a:t>“What’s actually happening when Copilot fulfills a request?”</a:t>
            </a:r>
            <a:br>
              <a:rPr lang="en" sz="1400" b="1" dirty="0">
                <a:solidFill>
                  <a:schemeClr val="dk1"/>
                </a:solidFill>
              </a:rPr>
            </a:br>
            <a:r>
              <a:rPr lang="en" sz="1200" b="1" dirty="0">
                <a:solidFill>
                  <a:srgbClr val="980000"/>
                </a:solidFill>
              </a:rPr>
              <a:t>(Press Key)</a:t>
            </a:r>
            <a:endParaRPr sz="1400" b="1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Copilot assembles context from tabs open in the code editor </a:t>
            </a:r>
            <a:br>
              <a:rPr lang="en" sz="1200" dirty="0">
                <a:solidFill>
                  <a:schemeClr val="dk1"/>
                </a:solidFill>
              </a:rPr>
            </a:br>
            <a:r>
              <a:rPr lang="en" sz="1200" b="1" dirty="0">
                <a:solidFill>
                  <a:srgbClr val="980000"/>
                </a:solidFill>
              </a:rPr>
              <a:t>(Press Key)</a:t>
            </a:r>
            <a:br>
              <a:rPr lang="en" sz="1200" b="1" dirty="0">
                <a:solidFill>
                  <a:srgbClr val="980000"/>
                </a:solidFill>
              </a:rPr>
            </a:br>
            <a:endParaRPr sz="1200" b="1" dirty="0">
              <a:solidFill>
                <a:srgbClr val="98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Once context has been established in the code editor, the prompt passes via HTTPS to a proxy service. </a:t>
            </a:r>
            <a:r>
              <a:rPr lang="en" dirty="0">
                <a:solidFill>
                  <a:schemeClr val="dk1"/>
                </a:solidFill>
              </a:rPr>
              <a:t>On the proxy, we apply several pre-model filters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</a:endParaRPr>
          </a:p>
          <a:p>
            <a:pPr marL="9144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b="1" dirty="0">
                <a:solidFill>
                  <a:schemeClr val="dk1"/>
                </a:solidFill>
              </a:rPr>
              <a:t>First, we test for toxic language. </a:t>
            </a:r>
            <a:br>
              <a:rPr lang="en" sz="1200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Things like hate speech, sexual content, violence, and evidence of self-harm.</a:t>
            </a:r>
            <a:br>
              <a:rPr lang="en" dirty="0">
                <a:solidFill>
                  <a:schemeClr val="dk1"/>
                </a:solidFill>
              </a:rPr>
            </a:br>
            <a:endParaRPr sz="1200" b="1" dirty="0">
              <a:solidFill>
                <a:schemeClr val="dk1"/>
              </a:solidFill>
            </a:endParaRPr>
          </a:p>
          <a:p>
            <a:pPr marL="9144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 dirty="0">
                <a:solidFill>
                  <a:srgbClr val="4A86E8"/>
                </a:solidFill>
              </a:rPr>
              <a:t>💬 CHAT ONLY:</a:t>
            </a:r>
            <a:r>
              <a:rPr lang="en" sz="1200" b="1" dirty="0">
                <a:solidFill>
                  <a:schemeClr val="dk1"/>
                </a:solidFill>
              </a:rPr>
              <a:t> Second, we test for relevance. </a:t>
            </a:r>
            <a:br>
              <a:rPr lang="en" sz="1200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An intent classifier ensures the service only responds to questions about code and software development.</a:t>
            </a:r>
            <a:br>
              <a:rPr lang="en" dirty="0">
                <a:solidFill>
                  <a:schemeClr val="dk1"/>
                </a:solidFill>
              </a:rPr>
            </a:br>
            <a:endParaRPr sz="1200" b="1" dirty="0">
              <a:solidFill>
                <a:schemeClr val="dk1"/>
              </a:solidFill>
            </a:endParaRPr>
          </a:p>
          <a:p>
            <a:pPr marL="9144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 dirty="0">
                <a:solidFill>
                  <a:srgbClr val="4A86E8"/>
                </a:solidFill>
              </a:rPr>
              <a:t>💬 CHAT ONLY:</a:t>
            </a:r>
            <a:r>
              <a:rPr lang="en" sz="1200" b="1" dirty="0">
                <a:solidFill>
                  <a:schemeClr val="dk1"/>
                </a:solidFill>
              </a:rPr>
              <a:t> Third, we guard against prompt hacking. </a:t>
            </a:r>
            <a:br>
              <a:rPr lang="en" sz="1200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The service detects and blocks attempts to trick the model into returning service internals.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Assuming all tests pass, we pass the prompt to the large language model.</a:t>
            </a:r>
            <a:br>
              <a:rPr lang="en" sz="1200" dirty="0">
                <a:solidFill>
                  <a:schemeClr val="dk1"/>
                </a:solidFill>
              </a:rPr>
            </a:br>
            <a:r>
              <a:rPr lang="en" sz="1200" b="1" dirty="0">
                <a:solidFill>
                  <a:srgbClr val="980000"/>
                </a:solidFill>
              </a:rPr>
              <a:t>(Press Key)</a:t>
            </a:r>
            <a:br>
              <a:rPr lang="en" sz="1200" b="1" dirty="0">
                <a:solidFill>
                  <a:srgbClr val="980000"/>
                </a:solidFill>
              </a:rPr>
            </a:br>
            <a:endParaRPr sz="1200" b="1" dirty="0">
              <a:solidFill>
                <a:srgbClr val="98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The model produces</a:t>
            </a:r>
            <a:r>
              <a:rPr lang="en" sz="1200" dirty="0">
                <a:solidFill>
                  <a:srgbClr val="980000"/>
                </a:solidFill>
              </a:rPr>
              <a:t> </a:t>
            </a:r>
            <a:r>
              <a:rPr lang="en" sz="1200" i="1" dirty="0">
                <a:solidFill>
                  <a:srgbClr val="980000"/>
                </a:solidFill>
              </a:rPr>
              <a:t>N</a:t>
            </a:r>
            <a:r>
              <a:rPr lang="en" sz="1200" dirty="0">
                <a:solidFill>
                  <a:srgbClr val="980000"/>
                </a:solidFill>
              </a:rPr>
              <a:t> </a:t>
            </a:r>
            <a:r>
              <a:rPr lang="en" sz="1200" dirty="0">
                <a:solidFill>
                  <a:schemeClr val="dk1"/>
                </a:solidFill>
              </a:rPr>
              <a:t>responses, then deletes the prompt. </a:t>
            </a:r>
            <a:br>
              <a:rPr lang="en" sz="1200" dirty="0">
                <a:solidFill>
                  <a:schemeClr val="dk1"/>
                </a:solidFill>
              </a:rPr>
            </a:br>
            <a:r>
              <a:rPr lang="en" sz="1200" i="1" dirty="0">
                <a:solidFill>
                  <a:schemeClr val="dk1"/>
                </a:solidFill>
              </a:rPr>
              <a:t>Optional (For speaker knowledge): Your data will be shared if you are a </a:t>
            </a:r>
            <a:r>
              <a:rPr lang="en" sz="1200" i="1" dirty="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copilot for individual user who has explicitly opted in to data sharing</a:t>
            </a:r>
            <a:r>
              <a:rPr lang="en" sz="1200" i="1" dirty="0">
                <a:solidFill>
                  <a:schemeClr val="dk1"/>
                </a:solidFill>
              </a:rPr>
              <a:t>.</a:t>
            </a:r>
            <a:br>
              <a:rPr lang="en" sz="1200" dirty="0"/>
            </a:br>
            <a:endParaRPr sz="1200" b="1" dirty="0">
              <a:solidFill>
                <a:srgbClr val="98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On the proxy again, we test for code quality and matching public code</a:t>
            </a:r>
            <a:endParaRPr sz="1200" dirty="0">
              <a:solidFill>
                <a:schemeClr val="dk1"/>
              </a:solidFill>
            </a:endParaRPr>
          </a:p>
          <a:p>
            <a:pPr marL="9144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b="1" dirty="0">
                <a:solidFill>
                  <a:schemeClr val="dk1"/>
                </a:solidFill>
              </a:rPr>
              <a:t>Code quality </a:t>
            </a:r>
            <a:r>
              <a:rPr lang="en" sz="1200" b="1" i="1" dirty="0">
                <a:solidFill>
                  <a:schemeClr val="dk1"/>
                </a:solidFill>
              </a:rPr>
              <a:t>(</a:t>
            </a:r>
            <a:r>
              <a:rPr lang="en" sz="1200" i="1" dirty="0"/>
              <a:t>This includes a second code classifier and a security review to detect common vulnerabilities like SQL injections and path injections. Suggestions failing these filters are removed before reaching the user.</a:t>
            </a:r>
            <a:r>
              <a:rPr lang="en" sz="1200" i="1" dirty="0">
                <a:solidFill>
                  <a:srgbClr val="1D1C1D"/>
                </a:solidFill>
                <a:highlight>
                  <a:srgbClr val="F8F8F8"/>
                </a:highlight>
              </a:rPr>
              <a:t>)</a:t>
            </a:r>
            <a:endParaRPr sz="1200" b="1" i="1" dirty="0">
              <a:solidFill>
                <a:schemeClr val="dk1"/>
              </a:solidFill>
            </a:endParaRPr>
          </a:p>
          <a:p>
            <a:pPr marL="9144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b="1" dirty="0">
                <a:solidFill>
                  <a:schemeClr val="dk1"/>
                </a:solidFill>
              </a:rPr>
              <a:t>Unique identifiers</a:t>
            </a:r>
            <a:r>
              <a:rPr lang="en" sz="1200" b="1" i="1" dirty="0">
                <a:solidFill>
                  <a:schemeClr val="dk1"/>
                </a:solidFill>
              </a:rPr>
              <a:t> </a:t>
            </a:r>
            <a:r>
              <a:rPr lang="en" sz="1200" i="1" dirty="0">
                <a:solidFill>
                  <a:schemeClr val="dk1"/>
                </a:solidFill>
              </a:rPr>
              <a:t>(eg.: emails, IPs, etc.)</a:t>
            </a:r>
            <a:endParaRPr sz="1200" i="1" dirty="0">
              <a:solidFill>
                <a:schemeClr val="dk1"/>
              </a:solidFill>
            </a:endParaRPr>
          </a:p>
          <a:p>
            <a:pPr marL="9144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b="1" dirty="0">
                <a:solidFill>
                  <a:schemeClr val="dk1"/>
                </a:solidFill>
              </a:rPr>
              <a:t>Suggestions matching public code </a:t>
            </a:r>
            <a:r>
              <a:rPr lang="en" sz="1200" i="1" dirty="0">
                <a:solidFill>
                  <a:schemeClr val="dk1"/>
                </a:solidFill>
              </a:rPr>
              <a:t>(optional based on enterprise policy)</a:t>
            </a:r>
            <a:endParaRPr sz="1200" i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980000"/>
                </a:solidFill>
              </a:rPr>
              <a:t>(Press Key)</a:t>
            </a:r>
            <a:endParaRPr sz="1200" b="1" dirty="0">
              <a:solidFill>
                <a:srgbClr val="98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In the code editor, developers choose which suggestions to accept or reject</a:t>
            </a:r>
            <a:br>
              <a:rPr lang="en" sz="1200" dirty="0">
                <a:solidFill>
                  <a:schemeClr val="dk1"/>
                </a:solidFill>
              </a:rPr>
            </a:b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</a:rPr>
              <a:t>Note: </a:t>
            </a:r>
            <a:r>
              <a:rPr lang="en" sz="1200" dirty="0">
                <a:solidFill>
                  <a:schemeClr val="dk1"/>
                </a:solidFill>
              </a:rPr>
              <a:t>Administrators can enable a filter that </a:t>
            </a:r>
            <a:r>
              <a:rPr lang="en" sz="1200" b="1" dirty="0">
                <a:solidFill>
                  <a:schemeClr val="dk1"/>
                </a:solidFill>
              </a:rPr>
              <a:t>blocks all suggestions over 150 characters that match public code</a:t>
            </a:r>
            <a:r>
              <a:rPr lang="en" sz="1200" dirty="0">
                <a:solidFill>
                  <a:schemeClr val="dk1"/>
                </a:solidFill>
              </a:rPr>
              <a:t> on GitHub.com (ignoring whitespace).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/>
          </a:p>
        </p:txBody>
      </p:sp>
      <p:sp>
        <p:nvSpPr>
          <p:cNvPr id="2054" name="Google Shape;2054;g312eed20e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Blank">
  <p:cSld name="2. 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7162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2" name="Google Shape;616;p53">
            <a:extLst>
              <a:ext uri="{FF2B5EF4-FFF2-40B4-BE49-F238E27FC236}">
                <a16:creationId xmlns:a16="http://schemas.microsoft.com/office/drawing/2014/main" id="{DEAA0331-E619-F659-3EF1-1B0478B0BB49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9855199" y="270496"/>
            <a:ext cx="1823943" cy="237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2;p2">
            <a:extLst>
              <a:ext uri="{FF2B5EF4-FFF2-40B4-BE49-F238E27FC236}">
                <a16:creationId xmlns:a16="http://schemas.microsoft.com/office/drawing/2014/main" id="{8E4719A8-2DDB-FDEF-CD99-8BCFA2059B4E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437" y="136035"/>
            <a:ext cx="480327" cy="45733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79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163"/>
          <p:cNvSpPr txBox="1"/>
          <p:nvPr/>
        </p:nvSpPr>
        <p:spPr>
          <a:xfrm>
            <a:off x="1" y="346582"/>
            <a:ext cx="12192000" cy="740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3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Copilot Fulfills a Request</a:t>
            </a:r>
            <a:endParaRPr sz="3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57" name="Google Shape;2057;p163"/>
          <p:cNvGrpSpPr/>
          <p:nvPr/>
        </p:nvGrpSpPr>
        <p:grpSpPr>
          <a:xfrm>
            <a:off x="517610" y="3072555"/>
            <a:ext cx="1219212" cy="1440847"/>
            <a:chOff x="235800" y="2077641"/>
            <a:chExt cx="1021800" cy="1206739"/>
          </a:xfrm>
        </p:grpSpPr>
        <p:pic>
          <p:nvPicPr>
            <p:cNvPr id="2058" name="Google Shape;2058;p163" descr="Icon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61950" y="2077641"/>
              <a:ext cx="769545" cy="7824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9" name="Google Shape;2059;p163"/>
            <p:cNvSpPr txBox="1"/>
            <p:nvPr/>
          </p:nvSpPr>
          <p:spPr>
            <a:xfrm>
              <a:off x="235800" y="2883880"/>
              <a:ext cx="1021800" cy="4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33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OpenAI model</a:t>
              </a:r>
              <a:endParaRPr sz="2489"/>
            </a:p>
          </p:txBody>
        </p:sp>
      </p:grpSp>
      <p:sp>
        <p:nvSpPr>
          <p:cNvPr id="2060" name="Google Shape;2060;p16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t>1</a:t>
            </a:fld>
            <a:endParaRPr/>
          </a:p>
        </p:txBody>
      </p:sp>
      <p:pic>
        <p:nvPicPr>
          <p:cNvPr id="2061" name="Google Shape;2061;p163"/>
          <p:cNvPicPr preferRelativeResize="0"/>
          <p:nvPr/>
        </p:nvPicPr>
        <p:blipFill rotWithShape="1">
          <a:blip r:embed="rId4">
            <a:alphaModFix/>
          </a:blip>
          <a:srcRect r="30781"/>
          <a:stretch/>
        </p:blipFill>
        <p:spPr>
          <a:xfrm>
            <a:off x="9035233" y="1411767"/>
            <a:ext cx="2677200" cy="472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2" name="Google Shape;2062;p1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78034" y="3253067"/>
            <a:ext cx="2285999" cy="2859133"/>
          </a:xfrm>
          <a:prstGeom prst="rect">
            <a:avLst/>
          </a:prstGeom>
          <a:solidFill>
            <a:srgbClr val="222529"/>
          </a:solidFill>
          <a:ln>
            <a:noFill/>
          </a:ln>
        </p:spPr>
      </p:pic>
      <p:sp>
        <p:nvSpPr>
          <p:cNvPr id="2063" name="Google Shape;2063;p163"/>
          <p:cNvSpPr/>
          <p:nvPr/>
        </p:nvSpPr>
        <p:spPr>
          <a:xfrm>
            <a:off x="7417167" y="3253067"/>
            <a:ext cx="1706800" cy="244000"/>
          </a:xfrm>
          <a:prstGeom prst="leftArrow">
            <a:avLst>
              <a:gd name="adj1" fmla="val 100000"/>
              <a:gd name="adj2" fmla="val 50000"/>
            </a:avLst>
          </a:prstGeom>
          <a:solidFill>
            <a:srgbClr val="56D36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Context / Prompt</a:t>
            </a:r>
            <a:endParaRPr sz="1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4" name="Google Shape;2064;p163"/>
          <p:cNvSpPr/>
          <p:nvPr/>
        </p:nvSpPr>
        <p:spPr>
          <a:xfrm flipH="1">
            <a:off x="7511000" y="3626700"/>
            <a:ext cx="1706800" cy="244000"/>
          </a:xfrm>
          <a:prstGeom prst="leftArrow">
            <a:avLst>
              <a:gd name="adj1" fmla="val 96226"/>
              <a:gd name="adj2" fmla="val 50000"/>
            </a:avLst>
          </a:prstGeom>
          <a:solidFill>
            <a:srgbClr val="33B3A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 Suggestions</a:t>
            </a:r>
            <a:endParaRPr sz="1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5" name="Google Shape;2065;p163"/>
          <p:cNvSpPr/>
          <p:nvPr/>
        </p:nvSpPr>
        <p:spPr>
          <a:xfrm>
            <a:off x="9035133" y="1394128"/>
            <a:ext cx="2286000" cy="182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066" name="Google Shape;2066;p163"/>
          <p:cNvSpPr/>
          <p:nvPr/>
        </p:nvSpPr>
        <p:spPr>
          <a:xfrm>
            <a:off x="5155900" y="1769251"/>
            <a:ext cx="2677200" cy="616400"/>
          </a:xfrm>
          <a:prstGeom prst="wedgeRoundRectCallout">
            <a:avLst>
              <a:gd name="adj1" fmla="val 12034"/>
              <a:gd name="adj2" fmla="val 14118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33" tIns="60933" rIns="60933" bIns="6093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Copilot assembles context</a:t>
            </a:r>
            <a:r>
              <a:rPr lang="en" sz="13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from tabs open in the code editor</a:t>
            </a:r>
            <a:endParaRPr sz="13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67" name="Google Shape;2067;p163"/>
          <p:cNvSpPr/>
          <p:nvPr/>
        </p:nvSpPr>
        <p:spPr>
          <a:xfrm>
            <a:off x="1174333" y="1347517"/>
            <a:ext cx="3070000" cy="1281200"/>
          </a:xfrm>
          <a:prstGeom prst="wedgeRoundRectCallout">
            <a:avLst>
              <a:gd name="adj1" fmla="val 37267"/>
              <a:gd name="adj2" fmla="val 87131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33" tIns="60933" rIns="60933" bIns="6093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Apply several </a:t>
            </a:r>
            <a:r>
              <a:rPr lang="en" sz="1333" b="1">
                <a:solidFill>
                  <a:srgbClr val="00FFFF"/>
                </a:solidFill>
                <a:latin typeface="Roboto"/>
                <a:ea typeface="Roboto"/>
                <a:cs typeface="Roboto"/>
                <a:sym typeface="Roboto"/>
              </a:rPr>
              <a:t>pre-model filters</a:t>
            </a:r>
            <a:br>
              <a:rPr lang="en" sz="13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endParaRPr sz="13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121917" lvl="0" indent="-14562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Light"/>
              <a:buChar char="●"/>
            </a:pPr>
            <a:r>
              <a:rPr lang="en" sz="13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Test for </a:t>
            </a:r>
            <a:r>
              <a:rPr lang="en" sz="1333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toxic language</a:t>
            </a:r>
            <a:endParaRPr sz="1333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1917" lvl="0" indent="-14562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Light"/>
              <a:buChar char="●"/>
            </a:pPr>
            <a:r>
              <a:rPr lang="en" sz="13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Test for </a:t>
            </a:r>
            <a:r>
              <a:rPr lang="en" sz="1333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relevance</a:t>
            </a:r>
            <a:r>
              <a:rPr lang="en" sz="13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(chat only)</a:t>
            </a:r>
            <a:endParaRPr sz="13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121917" lvl="0" indent="-14562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Light"/>
              <a:buChar char="●"/>
            </a:pPr>
            <a:r>
              <a:rPr lang="en" sz="13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Guard against </a:t>
            </a:r>
            <a:r>
              <a:rPr lang="en" sz="1333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prompt hacking</a:t>
            </a:r>
            <a:endParaRPr sz="13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2068" name="Google Shape;2068;p163"/>
          <p:cNvGrpSpPr/>
          <p:nvPr/>
        </p:nvGrpSpPr>
        <p:grpSpPr>
          <a:xfrm>
            <a:off x="3557267" y="3233067"/>
            <a:ext cx="731600" cy="802800"/>
            <a:chOff x="1453525" y="1303775"/>
            <a:chExt cx="548700" cy="602100"/>
          </a:xfrm>
        </p:grpSpPr>
        <p:sp>
          <p:nvSpPr>
            <p:cNvPr id="2069" name="Google Shape;2069;p163"/>
            <p:cNvSpPr/>
            <p:nvPr/>
          </p:nvSpPr>
          <p:spPr>
            <a:xfrm>
              <a:off x="1453525" y="1303775"/>
              <a:ext cx="548700" cy="183000"/>
            </a:xfrm>
            <a:prstGeom prst="roundRect">
              <a:avLst>
                <a:gd name="adj" fmla="val 16667"/>
              </a:avLst>
            </a:prstGeom>
            <a:solidFill>
              <a:srgbClr val="EFEF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2070" name="Google Shape;2070;p163"/>
            <p:cNvSpPr/>
            <p:nvPr/>
          </p:nvSpPr>
          <p:spPr>
            <a:xfrm>
              <a:off x="1506325" y="1349525"/>
              <a:ext cx="91500" cy="9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2071" name="Google Shape;2071;p163"/>
            <p:cNvSpPr/>
            <p:nvPr/>
          </p:nvSpPr>
          <p:spPr>
            <a:xfrm>
              <a:off x="1632075" y="1349525"/>
              <a:ext cx="91500" cy="9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2072" name="Google Shape;2072;p163"/>
            <p:cNvSpPr/>
            <p:nvPr/>
          </p:nvSpPr>
          <p:spPr>
            <a:xfrm>
              <a:off x="1453525" y="1521125"/>
              <a:ext cx="548700" cy="183000"/>
            </a:xfrm>
            <a:prstGeom prst="roundRect">
              <a:avLst>
                <a:gd name="adj" fmla="val 16667"/>
              </a:avLst>
            </a:prstGeom>
            <a:solidFill>
              <a:srgbClr val="EFEF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2073" name="Google Shape;2073;p163"/>
            <p:cNvSpPr/>
            <p:nvPr/>
          </p:nvSpPr>
          <p:spPr>
            <a:xfrm>
              <a:off x="1506325" y="1566875"/>
              <a:ext cx="91500" cy="9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2074" name="Google Shape;2074;p163"/>
            <p:cNvSpPr/>
            <p:nvPr/>
          </p:nvSpPr>
          <p:spPr>
            <a:xfrm>
              <a:off x="1632075" y="1566875"/>
              <a:ext cx="91500" cy="9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2075" name="Google Shape;2075;p163"/>
            <p:cNvSpPr txBox="1"/>
            <p:nvPr/>
          </p:nvSpPr>
          <p:spPr>
            <a:xfrm>
              <a:off x="1453525" y="1738475"/>
              <a:ext cx="548700" cy="16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33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Proxy</a:t>
              </a:r>
              <a:endPara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76" name="Google Shape;2076;p163"/>
          <p:cNvGrpSpPr/>
          <p:nvPr/>
        </p:nvGrpSpPr>
        <p:grpSpPr>
          <a:xfrm>
            <a:off x="6270276" y="3120000"/>
            <a:ext cx="1126361" cy="1219165"/>
            <a:chOff x="1719718" y="2096195"/>
            <a:chExt cx="887551" cy="960880"/>
          </a:xfrm>
        </p:grpSpPr>
        <p:grpSp>
          <p:nvGrpSpPr>
            <p:cNvPr id="2077" name="Google Shape;2077;p163"/>
            <p:cNvGrpSpPr/>
            <p:nvPr/>
          </p:nvGrpSpPr>
          <p:grpSpPr>
            <a:xfrm>
              <a:off x="1719718" y="2096195"/>
              <a:ext cx="887551" cy="740858"/>
              <a:chOff x="690700" y="246575"/>
              <a:chExt cx="6228425" cy="5199000"/>
            </a:xfrm>
          </p:grpSpPr>
          <p:sp>
            <p:nvSpPr>
              <p:cNvPr id="2078" name="Google Shape;2078;p163"/>
              <p:cNvSpPr/>
              <p:nvPr/>
            </p:nvSpPr>
            <p:spPr>
              <a:xfrm>
                <a:off x="690700" y="246575"/>
                <a:ext cx="6228425" cy="5199000"/>
              </a:xfrm>
              <a:custGeom>
                <a:avLst/>
                <a:gdLst/>
                <a:ahLst/>
                <a:cxnLst/>
                <a:rect l="l" t="t" r="r" b="b"/>
                <a:pathLst>
                  <a:path w="249137" h="207960" extrusionOk="0">
                    <a:moveTo>
                      <a:pt x="248256" y="155809"/>
                    </a:moveTo>
                    <a:cubicBezTo>
                      <a:pt x="239350" y="171352"/>
                      <a:pt x="187470" y="207959"/>
                      <a:pt x="124585" y="207959"/>
                    </a:cubicBezTo>
                    <a:cubicBezTo>
                      <a:pt x="61666" y="207959"/>
                      <a:pt x="9787" y="171352"/>
                      <a:pt x="880" y="155809"/>
                    </a:cubicBezTo>
                    <a:cubicBezTo>
                      <a:pt x="203" y="154691"/>
                      <a:pt x="0" y="153404"/>
                      <a:pt x="0" y="152084"/>
                    </a:cubicBezTo>
                    <a:lnTo>
                      <a:pt x="0" y="124451"/>
                    </a:lnTo>
                    <a:cubicBezTo>
                      <a:pt x="0" y="123333"/>
                      <a:pt x="169" y="122182"/>
                      <a:pt x="610" y="121132"/>
                    </a:cubicBezTo>
                    <a:cubicBezTo>
                      <a:pt x="4470" y="111413"/>
                      <a:pt x="14595" y="97326"/>
                      <a:pt x="27633" y="93567"/>
                    </a:cubicBezTo>
                    <a:cubicBezTo>
                      <a:pt x="29360" y="89097"/>
                      <a:pt x="31934" y="82629"/>
                      <a:pt x="34338" y="77820"/>
                    </a:cubicBezTo>
                    <a:cubicBezTo>
                      <a:pt x="33932" y="74163"/>
                      <a:pt x="33796" y="70370"/>
                      <a:pt x="33796" y="66543"/>
                    </a:cubicBezTo>
                    <a:cubicBezTo>
                      <a:pt x="33796" y="52727"/>
                      <a:pt x="36708" y="40637"/>
                      <a:pt x="45513" y="31596"/>
                    </a:cubicBezTo>
                    <a:cubicBezTo>
                      <a:pt x="49644" y="27397"/>
                      <a:pt x="54758" y="24146"/>
                      <a:pt x="60820" y="21741"/>
                    </a:cubicBezTo>
                    <a:cubicBezTo>
                      <a:pt x="75347" y="9923"/>
                      <a:pt x="96004" y="1"/>
                      <a:pt x="124348" y="1"/>
                    </a:cubicBezTo>
                    <a:cubicBezTo>
                      <a:pt x="152692" y="1"/>
                      <a:pt x="173789" y="9923"/>
                      <a:pt x="188317" y="21741"/>
                    </a:cubicBezTo>
                    <a:cubicBezTo>
                      <a:pt x="194379" y="24146"/>
                      <a:pt x="199492" y="27397"/>
                      <a:pt x="203624" y="31596"/>
                    </a:cubicBezTo>
                    <a:cubicBezTo>
                      <a:pt x="212428" y="40637"/>
                      <a:pt x="215374" y="52727"/>
                      <a:pt x="215374" y="66543"/>
                    </a:cubicBezTo>
                    <a:cubicBezTo>
                      <a:pt x="215374" y="70370"/>
                      <a:pt x="215205" y="74163"/>
                      <a:pt x="214833" y="77820"/>
                    </a:cubicBezTo>
                    <a:cubicBezTo>
                      <a:pt x="217203" y="82629"/>
                      <a:pt x="219777" y="89097"/>
                      <a:pt x="221504" y="93567"/>
                    </a:cubicBezTo>
                    <a:cubicBezTo>
                      <a:pt x="234575" y="97326"/>
                      <a:pt x="244667" y="111413"/>
                      <a:pt x="248527" y="121132"/>
                    </a:cubicBezTo>
                    <a:cubicBezTo>
                      <a:pt x="248967" y="122182"/>
                      <a:pt x="249137" y="123333"/>
                      <a:pt x="249137" y="124451"/>
                    </a:cubicBezTo>
                    <a:lnTo>
                      <a:pt x="249137" y="152084"/>
                    </a:lnTo>
                    <a:cubicBezTo>
                      <a:pt x="249137" y="153404"/>
                      <a:pt x="248933" y="154691"/>
                      <a:pt x="248256" y="155809"/>
                    </a:cubicBezTo>
                    <a:close/>
                    <a:moveTo>
                      <a:pt x="133017" y="63191"/>
                    </a:moveTo>
                    <a:cubicBezTo>
                      <a:pt x="132577" y="59770"/>
                      <a:pt x="132374" y="56689"/>
                      <a:pt x="132340" y="53912"/>
                    </a:cubicBezTo>
                    <a:lnTo>
                      <a:pt x="132340" y="53709"/>
                    </a:lnTo>
                    <a:cubicBezTo>
                      <a:pt x="132374" y="45717"/>
                      <a:pt x="134101" y="40536"/>
                      <a:pt x="136912" y="37353"/>
                    </a:cubicBezTo>
                    <a:cubicBezTo>
                      <a:pt x="140434" y="33289"/>
                      <a:pt x="147748" y="30173"/>
                      <a:pt x="163190" y="31867"/>
                    </a:cubicBezTo>
                    <a:cubicBezTo>
                      <a:pt x="178801" y="33526"/>
                      <a:pt x="187538" y="37420"/>
                      <a:pt x="192482" y="42466"/>
                    </a:cubicBezTo>
                    <a:cubicBezTo>
                      <a:pt x="197291" y="47376"/>
                      <a:pt x="199797" y="54725"/>
                      <a:pt x="199797" y="66543"/>
                    </a:cubicBezTo>
                    <a:cubicBezTo>
                      <a:pt x="199797" y="79107"/>
                      <a:pt x="198002" y="86523"/>
                      <a:pt x="194006" y="91061"/>
                    </a:cubicBezTo>
                    <a:cubicBezTo>
                      <a:pt x="190213" y="95328"/>
                      <a:pt x="182763" y="98849"/>
                      <a:pt x="166441" y="98849"/>
                    </a:cubicBezTo>
                    <a:cubicBezTo>
                      <a:pt x="153878" y="98849"/>
                      <a:pt x="146698" y="94752"/>
                      <a:pt x="142127" y="89097"/>
                    </a:cubicBezTo>
                    <a:cubicBezTo>
                      <a:pt x="137183" y="83035"/>
                      <a:pt x="134406" y="74163"/>
                      <a:pt x="133017" y="63191"/>
                    </a:cubicBezTo>
                    <a:close/>
                    <a:moveTo>
                      <a:pt x="116119" y="63191"/>
                    </a:moveTo>
                    <a:cubicBezTo>
                      <a:pt x="116560" y="59770"/>
                      <a:pt x="116797" y="56689"/>
                      <a:pt x="116797" y="53912"/>
                    </a:cubicBezTo>
                    <a:lnTo>
                      <a:pt x="116797" y="53709"/>
                    </a:lnTo>
                    <a:cubicBezTo>
                      <a:pt x="116763" y="45717"/>
                      <a:pt x="115036" y="40536"/>
                      <a:pt x="112259" y="37353"/>
                    </a:cubicBezTo>
                    <a:cubicBezTo>
                      <a:pt x="108703" y="33289"/>
                      <a:pt x="101388" y="30173"/>
                      <a:pt x="85980" y="31867"/>
                    </a:cubicBezTo>
                    <a:cubicBezTo>
                      <a:pt x="70335" y="33526"/>
                      <a:pt x="61598" y="37420"/>
                      <a:pt x="56654" y="42466"/>
                    </a:cubicBezTo>
                    <a:cubicBezTo>
                      <a:pt x="51879" y="47376"/>
                      <a:pt x="49340" y="54725"/>
                      <a:pt x="49340" y="66543"/>
                    </a:cubicBezTo>
                    <a:cubicBezTo>
                      <a:pt x="49340" y="79107"/>
                      <a:pt x="51168" y="86523"/>
                      <a:pt x="55130" y="91061"/>
                    </a:cubicBezTo>
                    <a:cubicBezTo>
                      <a:pt x="58923" y="95328"/>
                      <a:pt x="66373" y="98849"/>
                      <a:pt x="82696" y="98849"/>
                    </a:cubicBezTo>
                    <a:cubicBezTo>
                      <a:pt x="95259" y="98849"/>
                      <a:pt x="102438" y="94752"/>
                      <a:pt x="107010" y="89097"/>
                    </a:cubicBezTo>
                    <a:cubicBezTo>
                      <a:pt x="111954" y="83035"/>
                      <a:pt x="114731" y="74163"/>
                      <a:pt x="116119" y="63191"/>
                    </a:cubicBezTo>
                    <a:close/>
                    <a:moveTo>
                      <a:pt x="126346" y="93634"/>
                    </a:moveTo>
                    <a:cubicBezTo>
                      <a:pt x="126956" y="93634"/>
                      <a:pt x="125770" y="93634"/>
                      <a:pt x="126346" y="93634"/>
                    </a:cubicBezTo>
                    <a:cubicBezTo>
                      <a:pt x="125770" y="93634"/>
                      <a:pt x="123366" y="93634"/>
                      <a:pt x="122790" y="93634"/>
                    </a:cubicBezTo>
                    <a:cubicBezTo>
                      <a:pt x="121673" y="95497"/>
                      <a:pt x="120454" y="97258"/>
                      <a:pt x="119099" y="98917"/>
                    </a:cubicBezTo>
                    <a:cubicBezTo>
                      <a:pt x="111107" y="108738"/>
                      <a:pt x="99187" y="114393"/>
                      <a:pt x="82696" y="114393"/>
                    </a:cubicBezTo>
                    <a:cubicBezTo>
                      <a:pt x="64815" y="114393"/>
                      <a:pt x="51676" y="110668"/>
                      <a:pt x="43447" y="101355"/>
                    </a:cubicBezTo>
                    <a:cubicBezTo>
                      <a:pt x="43007" y="100814"/>
                      <a:pt x="42567" y="100272"/>
                      <a:pt x="42567" y="100272"/>
                    </a:cubicBezTo>
                    <a:lnTo>
                      <a:pt x="41551" y="101355"/>
                    </a:lnTo>
                    <a:lnTo>
                      <a:pt x="41551" y="169659"/>
                    </a:lnTo>
                    <a:cubicBezTo>
                      <a:pt x="56451" y="177752"/>
                      <a:pt x="88419" y="192280"/>
                      <a:pt x="124585" y="192280"/>
                    </a:cubicBezTo>
                    <a:cubicBezTo>
                      <a:pt x="160752" y="192280"/>
                      <a:pt x="192686" y="177752"/>
                      <a:pt x="207586" y="169659"/>
                    </a:cubicBezTo>
                    <a:lnTo>
                      <a:pt x="207586" y="101355"/>
                    </a:lnTo>
                    <a:lnTo>
                      <a:pt x="206570" y="100272"/>
                    </a:lnTo>
                    <a:cubicBezTo>
                      <a:pt x="206570" y="100272"/>
                      <a:pt x="206231" y="100712"/>
                      <a:pt x="205689" y="101355"/>
                    </a:cubicBezTo>
                    <a:cubicBezTo>
                      <a:pt x="197460" y="110668"/>
                      <a:pt x="184321" y="114393"/>
                      <a:pt x="166441" y="114393"/>
                    </a:cubicBezTo>
                    <a:cubicBezTo>
                      <a:pt x="149949" y="114393"/>
                      <a:pt x="138029" y="108738"/>
                      <a:pt x="130037" y="98917"/>
                    </a:cubicBezTo>
                    <a:cubicBezTo>
                      <a:pt x="128683" y="97258"/>
                      <a:pt x="127464" y="95497"/>
                      <a:pt x="126346" y="9363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2079" name="Google Shape;2079;p163"/>
              <p:cNvSpPr/>
              <p:nvPr/>
            </p:nvSpPr>
            <p:spPr>
              <a:xfrm>
                <a:off x="2962100" y="3350200"/>
                <a:ext cx="453800" cy="1005800"/>
              </a:xfrm>
              <a:custGeom>
                <a:avLst/>
                <a:gdLst/>
                <a:ahLst/>
                <a:cxnLst/>
                <a:rect l="l" t="t" r="r" b="b"/>
                <a:pathLst>
                  <a:path w="18152" h="40232" extrusionOk="0">
                    <a:moveTo>
                      <a:pt x="9076" y="1"/>
                    </a:moveTo>
                    <a:cubicBezTo>
                      <a:pt x="14088" y="1"/>
                      <a:pt x="18152" y="4064"/>
                      <a:pt x="18152" y="9076"/>
                    </a:cubicBezTo>
                    <a:lnTo>
                      <a:pt x="18152" y="31156"/>
                    </a:lnTo>
                    <a:cubicBezTo>
                      <a:pt x="18152" y="36167"/>
                      <a:pt x="14088" y="40231"/>
                      <a:pt x="9076" y="40231"/>
                    </a:cubicBezTo>
                    <a:cubicBezTo>
                      <a:pt x="4064" y="40231"/>
                      <a:pt x="1" y="36167"/>
                      <a:pt x="1" y="31156"/>
                    </a:cubicBezTo>
                    <a:lnTo>
                      <a:pt x="1" y="9076"/>
                    </a:lnTo>
                    <a:cubicBezTo>
                      <a:pt x="1" y="4064"/>
                      <a:pt x="4064" y="1"/>
                      <a:pt x="907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  <p:sp>
            <p:nvSpPr>
              <p:cNvPr id="2080" name="Google Shape;2080;p163"/>
              <p:cNvSpPr/>
              <p:nvPr/>
            </p:nvSpPr>
            <p:spPr>
              <a:xfrm>
                <a:off x="4194750" y="3350200"/>
                <a:ext cx="453800" cy="1005800"/>
              </a:xfrm>
              <a:custGeom>
                <a:avLst/>
                <a:gdLst/>
                <a:ahLst/>
                <a:cxnLst/>
                <a:rect l="l" t="t" r="r" b="b"/>
                <a:pathLst>
                  <a:path w="18152" h="40232" extrusionOk="0">
                    <a:moveTo>
                      <a:pt x="9076" y="1"/>
                    </a:moveTo>
                    <a:cubicBezTo>
                      <a:pt x="14088" y="1"/>
                      <a:pt x="18152" y="4064"/>
                      <a:pt x="18152" y="9076"/>
                    </a:cubicBezTo>
                    <a:lnTo>
                      <a:pt x="18152" y="31156"/>
                    </a:lnTo>
                    <a:cubicBezTo>
                      <a:pt x="18152" y="36167"/>
                      <a:pt x="14088" y="40231"/>
                      <a:pt x="9076" y="40231"/>
                    </a:cubicBezTo>
                    <a:cubicBezTo>
                      <a:pt x="4064" y="40231"/>
                      <a:pt x="1" y="36167"/>
                      <a:pt x="1" y="31156"/>
                    </a:cubicBezTo>
                    <a:lnTo>
                      <a:pt x="1" y="9076"/>
                    </a:lnTo>
                    <a:cubicBezTo>
                      <a:pt x="1" y="4064"/>
                      <a:pt x="4064" y="1"/>
                      <a:pt x="907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89"/>
              </a:p>
            </p:txBody>
          </p:sp>
        </p:grpSp>
        <p:sp>
          <p:nvSpPr>
            <p:cNvPr id="2081" name="Google Shape;2081;p163"/>
            <p:cNvSpPr txBox="1"/>
            <p:nvPr/>
          </p:nvSpPr>
          <p:spPr>
            <a:xfrm>
              <a:off x="1889150" y="2889675"/>
              <a:ext cx="548700" cy="16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33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Copilot Agent</a:t>
              </a:r>
              <a:endParaRPr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82" name="Google Shape;2082;p163"/>
          <p:cNvSpPr/>
          <p:nvPr/>
        </p:nvSpPr>
        <p:spPr>
          <a:xfrm>
            <a:off x="9388833" y="1693333"/>
            <a:ext cx="2323600" cy="1559600"/>
          </a:xfrm>
          <a:prstGeom prst="roundRect">
            <a:avLst>
              <a:gd name="adj" fmla="val 4353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083" name="Google Shape;2083;p163"/>
          <p:cNvSpPr/>
          <p:nvPr/>
        </p:nvSpPr>
        <p:spPr>
          <a:xfrm>
            <a:off x="3478300" y="4831000"/>
            <a:ext cx="3508800" cy="1281200"/>
          </a:xfrm>
          <a:prstGeom prst="wedgeRoundRectCallout">
            <a:avLst>
              <a:gd name="adj1" fmla="val -35597"/>
              <a:gd name="adj2" fmla="val -9072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33" tIns="60933" rIns="60933" bIns="6093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Apply several </a:t>
            </a:r>
            <a:r>
              <a:rPr lang="en" sz="1333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post-model filters</a:t>
            </a:r>
            <a:br>
              <a:rPr lang="en" sz="13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endParaRPr sz="13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121917" lvl="0" indent="-14562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333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 quality</a:t>
            </a:r>
            <a:endParaRPr sz="1333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1917" lvl="0" indent="-14562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Light"/>
              <a:buChar char="●"/>
            </a:pPr>
            <a:r>
              <a:rPr lang="en" sz="1333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Unique Identifiers</a:t>
            </a:r>
            <a:r>
              <a:rPr lang="en" sz="13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(eg.: emails, IPs etc.)</a:t>
            </a:r>
            <a:endParaRPr sz="13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121917" lvl="0" indent="-14562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Light"/>
              <a:buChar char="●"/>
            </a:pPr>
            <a:r>
              <a:rPr lang="en" sz="13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Suggestion </a:t>
            </a:r>
            <a:r>
              <a:rPr lang="en" sz="1333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matching public code</a:t>
            </a:r>
            <a:endParaRPr sz="1333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4" name="Google Shape;2084;p163"/>
          <p:cNvSpPr/>
          <p:nvPr/>
        </p:nvSpPr>
        <p:spPr>
          <a:xfrm>
            <a:off x="4379300" y="3253067"/>
            <a:ext cx="1706800" cy="244000"/>
          </a:xfrm>
          <a:prstGeom prst="leftArrow">
            <a:avLst>
              <a:gd name="adj1" fmla="val 100000"/>
              <a:gd name="adj2" fmla="val 50000"/>
            </a:avLst>
          </a:prstGeom>
          <a:solidFill>
            <a:srgbClr val="56D36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Context / Prompt</a:t>
            </a:r>
            <a:endParaRPr sz="1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5" name="Google Shape;2085;p163"/>
          <p:cNvSpPr/>
          <p:nvPr/>
        </p:nvSpPr>
        <p:spPr>
          <a:xfrm flipH="1">
            <a:off x="4473033" y="3626700"/>
            <a:ext cx="1706800" cy="244000"/>
          </a:xfrm>
          <a:prstGeom prst="leftArrow">
            <a:avLst>
              <a:gd name="adj1" fmla="val 96226"/>
              <a:gd name="adj2" fmla="val 50000"/>
            </a:avLst>
          </a:prstGeom>
          <a:solidFill>
            <a:srgbClr val="33B3A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 Suggestions</a:t>
            </a:r>
            <a:endParaRPr sz="1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6" name="Google Shape;2086;p163"/>
          <p:cNvSpPr/>
          <p:nvPr/>
        </p:nvSpPr>
        <p:spPr>
          <a:xfrm>
            <a:off x="1666300" y="3252933"/>
            <a:ext cx="1706800" cy="244000"/>
          </a:xfrm>
          <a:prstGeom prst="leftArrow">
            <a:avLst>
              <a:gd name="adj1" fmla="val 100000"/>
              <a:gd name="adj2" fmla="val 50000"/>
            </a:avLst>
          </a:prstGeom>
          <a:solidFill>
            <a:srgbClr val="56D36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Context / Prompt</a:t>
            </a:r>
            <a:endParaRPr sz="1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7" name="Google Shape;2087;p163"/>
          <p:cNvSpPr/>
          <p:nvPr/>
        </p:nvSpPr>
        <p:spPr>
          <a:xfrm flipH="1">
            <a:off x="1760033" y="3626567"/>
            <a:ext cx="1706800" cy="244000"/>
          </a:xfrm>
          <a:prstGeom prst="leftArrow">
            <a:avLst>
              <a:gd name="adj1" fmla="val 96226"/>
              <a:gd name="adj2" fmla="val 50000"/>
            </a:avLst>
          </a:prstGeom>
          <a:solidFill>
            <a:srgbClr val="33B3A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 Suggestions</a:t>
            </a:r>
            <a:endParaRPr sz="133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88" name="Google Shape;2088;p163"/>
          <p:cNvGrpSpPr/>
          <p:nvPr/>
        </p:nvGrpSpPr>
        <p:grpSpPr>
          <a:xfrm>
            <a:off x="2448767" y="3054451"/>
            <a:ext cx="141851" cy="146400"/>
            <a:chOff x="5849713" y="3648575"/>
            <a:chExt cx="106388" cy="109800"/>
          </a:xfrm>
        </p:grpSpPr>
        <p:cxnSp>
          <p:nvCxnSpPr>
            <p:cNvPr id="2089" name="Google Shape;2089;p163"/>
            <p:cNvCxnSpPr/>
            <p:nvPr/>
          </p:nvCxnSpPr>
          <p:spPr>
            <a:xfrm>
              <a:off x="5849713" y="3702775"/>
              <a:ext cx="45600" cy="549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0" name="Google Shape;2090;p163"/>
            <p:cNvCxnSpPr/>
            <p:nvPr/>
          </p:nvCxnSpPr>
          <p:spPr>
            <a:xfrm rot="10800000" flipH="1">
              <a:off x="5882900" y="3648575"/>
              <a:ext cx="73200" cy="1098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91" name="Google Shape;2091;p163"/>
          <p:cNvGrpSpPr/>
          <p:nvPr/>
        </p:nvGrpSpPr>
        <p:grpSpPr>
          <a:xfrm>
            <a:off x="5161767" y="3921200"/>
            <a:ext cx="141851" cy="146400"/>
            <a:chOff x="5849713" y="3648575"/>
            <a:chExt cx="106388" cy="109800"/>
          </a:xfrm>
        </p:grpSpPr>
        <p:cxnSp>
          <p:nvCxnSpPr>
            <p:cNvPr id="2092" name="Google Shape;2092;p163"/>
            <p:cNvCxnSpPr/>
            <p:nvPr/>
          </p:nvCxnSpPr>
          <p:spPr>
            <a:xfrm>
              <a:off x="5849713" y="3702775"/>
              <a:ext cx="45600" cy="549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3" name="Google Shape;2093;p163"/>
            <p:cNvCxnSpPr/>
            <p:nvPr/>
          </p:nvCxnSpPr>
          <p:spPr>
            <a:xfrm rot="10800000" flipH="1">
              <a:off x="5882900" y="3648575"/>
              <a:ext cx="73200" cy="1098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94" name="Google Shape;2094;p163"/>
          <p:cNvGrpSpPr/>
          <p:nvPr/>
        </p:nvGrpSpPr>
        <p:grpSpPr>
          <a:xfrm>
            <a:off x="9332167" y="3253033"/>
            <a:ext cx="2380400" cy="2859200"/>
            <a:chOff x="7227725" y="2439800"/>
            <a:chExt cx="1785300" cy="2144400"/>
          </a:xfrm>
        </p:grpSpPr>
        <p:sp>
          <p:nvSpPr>
            <p:cNvPr id="2095" name="Google Shape;2095;p163"/>
            <p:cNvSpPr/>
            <p:nvPr/>
          </p:nvSpPr>
          <p:spPr>
            <a:xfrm>
              <a:off x="7227725" y="2439800"/>
              <a:ext cx="1785300" cy="2144400"/>
            </a:xfrm>
            <a:prstGeom prst="rect">
              <a:avLst/>
            </a:pr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grpSp>
          <p:nvGrpSpPr>
            <p:cNvPr id="2096" name="Google Shape;2096;p163"/>
            <p:cNvGrpSpPr/>
            <p:nvPr/>
          </p:nvGrpSpPr>
          <p:grpSpPr>
            <a:xfrm>
              <a:off x="8290325" y="4420950"/>
              <a:ext cx="722700" cy="163200"/>
              <a:chOff x="5664350" y="3946550"/>
              <a:chExt cx="722700" cy="163200"/>
            </a:xfrm>
          </p:grpSpPr>
          <p:sp>
            <p:nvSpPr>
              <p:cNvPr id="2097" name="Google Shape;2097;p163"/>
              <p:cNvSpPr txBox="1"/>
              <p:nvPr/>
            </p:nvSpPr>
            <p:spPr>
              <a:xfrm>
                <a:off x="5664350" y="3946550"/>
                <a:ext cx="722700" cy="163200"/>
              </a:xfrm>
              <a:prstGeom prst="rect">
                <a:avLst/>
              </a:prstGeom>
              <a:solidFill>
                <a:srgbClr val="2EA043"/>
              </a:solidFill>
              <a:ln>
                <a:noFill/>
              </a:ln>
            </p:spPr>
            <p:txBody>
              <a:bodyPr spcFirstLastPara="1" wrap="square" lIns="121900" tIns="12167" rIns="0" bIns="0" anchor="ctr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867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33">
                    <a:solidFill>
                      <a:schemeClr val="dk1"/>
                    </a:solidFill>
                  </a:rPr>
                  <a:t>     Copilot</a:t>
                </a:r>
                <a:endParaRPr sz="1333"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2098" name="Google Shape;2098;p163"/>
              <p:cNvGrpSpPr/>
              <p:nvPr/>
            </p:nvGrpSpPr>
            <p:grpSpPr>
              <a:xfrm>
                <a:off x="5718133" y="3971959"/>
                <a:ext cx="137025" cy="109699"/>
                <a:chOff x="690700" y="246575"/>
                <a:chExt cx="6228425" cy="5199000"/>
              </a:xfrm>
            </p:grpSpPr>
            <p:sp>
              <p:nvSpPr>
                <p:cNvPr id="2099" name="Google Shape;2099;p163"/>
                <p:cNvSpPr/>
                <p:nvPr/>
              </p:nvSpPr>
              <p:spPr>
                <a:xfrm>
                  <a:off x="690700" y="246575"/>
                  <a:ext cx="6228425" cy="519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137" h="207960" extrusionOk="0">
                      <a:moveTo>
                        <a:pt x="248256" y="155809"/>
                      </a:moveTo>
                      <a:cubicBezTo>
                        <a:pt x="239350" y="171352"/>
                        <a:pt x="187470" y="207959"/>
                        <a:pt x="124585" y="207959"/>
                      </a:cubicBezTo>
                      <a:cubicBezTo>
                        <a:pt x="61666" y="207959"/>
                        <a:pt x="9787" y="171352"/>
                        <a:pt x="880" y="155809"/>
                      </a:cubicBezTo>
                      <a:cubicBezTo>
                        <a:pt x="203" y="154691"/>
                        <a:pt x="0" y="153404"/>
                        <a:pt x="0" y="152084"/>
                      </a:cubicBezTo>
                      <a:lnTo>
                        <a:pt x="0" y="124451"/>
                      </a:lnTo>
                      <a:cubicBezTo>
                        <a:pt x="0" y="123333"/>
                        <a:pt x="169" y="122182"/>
                        <a:pt x="610" y="121132"/>
                      </a:cubicBezTo>
                      <a:cubicBezTo>
                        <a:pt x="4470" y="111413"/>
                        <a:pt x="14595" y="97326"/>
                        <a:pt x="27633" y="93567"/>
                      </a:cubicBezTo>
                      <a:cubicBezTo>
                        <a:pt x="29360" y="89097"/>
                        <a:pt x="31934" y="82629"/>
                        <a:pt x="34338" y="77820"/>
                      </a:cubicBezTo>
                      <a:cubicBezTo>
                        <a:pt x="33932" y="74163"/>
                        <a:pt x="33796" y="70370"/>
                        <a:pt x="33796" y="66543"/>
                      </a:cubicBezTo>
                      <a:cubicBezTo>
                        <a:pt x="33796" y="52727"/>
                        <a:pt x="36708" y="40637"/>
                        <a:pt x="45513" y="31596"/>
                      </a:cubicBezTo>
                      <a:cubicBezTo>
                        <a:pt x="49644" y="27397"/>
                        <a:pt x="54758" y="24146"/>
                        <a:pt x="60820" y="21741"/>
                      </a:cubicBezTo>
                      <a:cubicBezTo>
                        <a:pt x="75347" y="9923"/>
                        <a:pt x="96004" y="1"/>
                        <a:pt x="124348" y="1"/>
                      </a:cubicBezTo>
                      <a:cubicBezTo>
                        <a:pt x="152692" y="1"/>
                        <a:pt x="173789" y="9923"/>
                        <a:pt x="188317" y="21741"/>
                      </a:cubicBezTo>
                      <a:cubicBezTo>
                        <a:pt x="194379" y="24146"/>
                        <a:pt x="199492" y="27397"/>
                        <a:pt x="203624" y="31596"/>
                      </a:cubicBezTo>
                      <a:cubicBezTo>
                        <a:pt x="212428" y="40637"/>
                        <a:pt x="215374" y="52727"/>
                        <a:pt x="215374" y="66543"/>
                      </a:cubicBezTo>
                      <a:cubicBezTo>
                        <a:pt x="215374" y="70370"/>
                        <a:pt x="215205" y="74163"/>
                        <a:pt x="214833" y="77820"/>
                      </a:cubicBezTo>
                      <a:cubicBezTo>
                        <a:pt x="217203" y="82629"/>
                        <a:pt x="219777" y="89097"/>
                        <a:pt x="221504" y="93567"/>
                      </a:cubicBezTo>
                      <a:cubicBezTo>
                        <a:pt x="234575" y="97326"/>
                        <a:pt x="244667" y="111413"/>
                        <a:pt x="248527" y="121132"/>
                      </a:cubicBezTo>
                      <a:cubicBezTo>
                        <a:pt x="248967" y="122182"/>
                        <a:pt x="249137" y="123333"/>
                        <a:pt x="249137" y="124451"/>
                      </a:cubicBezTo>
                      <a:lnTo>
                        <a:pt x="249137" y="152084"/>
                      </a:lnTo>
                      <a:cubicBezTo>
                        <a:pt x="249137" y="153404"/>
                        <a:pt x="248933" y="154691"/>
                        <a:pt x="248256" y="155809"/>
                      </a:cubicBezTo>
                      <a:close/>
                      <a:moveTo>
                        <a:pt x="133017" y="63191"/>
                      </a:moveTo>
                      <a:cubicBezTo>
                        <a:pt x="132577" y="59770"/>
                        <a:pt x="132374" y="56689"/>
                        <a:pt x="132340" y="53912"/>
                      </a:cubicBezTo>
                      <a:lnTo>
                        <a:pt x="132340" y="53709"/>
                      </a:lnTo>
                      <a:cubicBezTo>
                        <a:pt x="132374" y="45717"/>
                        <a:pt x="134101" y="40536"/>
                        <a:pt x="136912" y="37353"/>
                      </a:cubicBezTo>
                      <a:cubicBezTo>
                        <a:pt x="140434" y="33289"/>
                        <a:pt x="147748" y="30173"/>
                        <a:pt x="163190" y="31867"/>
                      </a:cubicBezTo>
                      <a:cubicBezTo>
                        <a:pt x="178801" y="33526"/>
                        <a:pt x="187538" y="37420"/>
                        <a:pt x="192482" y="42466"/>
                      </a:cubicBezTo>
                      <a:cubicBezTo>
                        <a:pt x="197291" y="47376"/>
                        <a:pt x="199797" y="54725"/>
                        <a:pt x="199797" y="66543"/>
                      </a:cubicBezTo>
                      <a:cubicBezTo>
                        <a:pt x="199797" y="79107"/>
                        <a:pt x="198002" y="86523"/>
                        <a:pt x="194006" y="91061"/>
                      </a:cubicBezTo>
                      <a:cubicBezTo>
                        <a:pt x="190213" y="95328"/>
                        <a:pt x="182763" y="98849"/>
                        <a:pt x="166441" y="98849"/>
                      </a:cubicBezTo>
                      <a:cubicBezTo>
                        <a:pt x="153878" y="98849"/>
                        <a:pt x="146698" y="94752"/>
                        <a:pt x="142127" y="89097"/>
                      </a:cubicBezTo>
                      <a:cubicBezTo>
                        <a:pt x="137183" y="83035"/>
                        <a:pt x="134406" y="74163"/>
                        <a:pt x="133017" y="63191"/>
                      </a:cubicBezTo>
                      <a:close/>
                      <a:moveTo>
                        <a:pt x="116119" y="63191"/>
                      </a:moveTo>
                      <a:cubicBezTo>
                        <a:pt x="116560" y="59770"/>
                        <a:pt x="116797" y="56689"/>
                        <a:pt x="116797" y="53912"/>
                      </a:cubicBezTo>
                      <a:lnTo>
                        <a:pt x="116797" y="53709"/>
                      </a:lnTo>
                      <a:cubicBezTo>
                        <a:pt x="116763" y="45717"/>
                        <a:pt x="115036" y="40536"/>
                        <a:pt x="112259" y="37353"/>
                      </a:cubicBezTo>
                      <a:cubicBezTo>
                        <a:pt x="108703" y="33289"/>
                        <a:pt x="101388" y="30173"/>
                        <a:pt x="85980" y="31867"/>
                      </a:cubicBezTo>
                      <a:cubicBezTo>
                        <a:pt x="70335" y="33526"/>
                        <a:pt x="61598" y="37420"/>
                        <a:pt x="56654" y="42466"/>
                      </a:cubicBezTo>
                      <a:cubicBezTo>
                        <a:pt x="51879" y="47376"/>
                        <a:pt x="49340" y="54725"/>
                        <a:pt x="49340" y="66543"/>
                      </a:cubicBezTo>
                      <a:cubicBezTo>
                        <a:pt x="49340" y="79107"/>
                        <a:pt x="51168" y="86523"/>
                        <a:pt x="55130" y="91061"/>
                      </a:cubicBezTo>
                      <a:cubicBezTo>
                        <a:pt x="58923" y="95328"/>
                        <a:pt x="66373" y="98849"/>
                        <a:pt x="82696" y="98849"/>
                      </a:cubicBezTo>
                      <a:cubicBezTo>
                        <a:pt x="95259" y="98849"/>
                        <a:pt x="102438" y="94752"/>
                        <a:pt x="107010" y="89097"/>
                      </a:cubicBezTo>
                      <a:cubicBezTo>
                        <a:pt x="111954" y="83035"/>
                        <a:pt x="114731" y="74163"/>
                        <a:pt x="116119" y="63191"/>
                      </a:cubicBezTo>
                      <a:close/>
                      <a:moveTo>
                        <a:pt x="126346" y="93634"/>
                      </a:moveTo>
                      <a:cubicBezTo>
                        <a:pt x="126956" y="93634"/>
                        <a:pt x="125770" y="93634"/>
                        <a:pt x="126346" y="93634"/>
                      </a:cubicBezTo>
                      <a:cubicBezTo>
                        <a:pt x="125770" y="93634"/>
                        <a:pt x="123366" y="93634"/>
                        <a:pt x="122790" y="93634"/>
                      </a:cubicBezTo>
                      <a:cubicBezTo>
                        <a:pt x="121673" y="95497"/>
                        <a:pt x="120454" y="97258"/>
                        <a:pt x="119099" y="98917"/>
                      </a:cubicBezTo>
                      <a:cubicBezTo>
                        <a:pt x="111107" y="108738"/>
                        <a:pt x="99187" y="114393"/>
                        <a:pt x="82696" y="114393"/>
                      </a:cubicBezTo>
                      <a:cubicBezTo>
                        <a:pt x="64815" y="114393"/>
                        <a:pt x="51676" y="110668"/>
                        <a:pt x="43447" y="101355"/>
                      </a:cubicBezTo>
                      <a:cubicBezTo>
                        <a:pt x="43007" y="100814"/>
                        <a:pt x="42567" y="100272"/>
                        <a:pt x="42567" y="100272"/>
                      </a:cubicBezTo>
                      <a:lnTo>
                        <a:pt x="41551" y="101355"/>
                      </a:lnTo>
                      <a:lnTo>
                        <a:pt x="41551" y="169659"/>
                      </a:lnTo>
                      <a:cubicBezTo>
                        <a:pt x="56451" y="177752"/>
                        <a:pt x="88419" y="192280"/>
                        <a:pt x="124585" y="192280"/>
                      </a:cubicBezTo>
                      <a:cubicBezTo>
                        <a:pt x="160752" y="192280"/>
                        <a:pt x="192686" y="177752"/>
                        <a:pt x="207586" y="169659"/>
                      </a:cubicBezTo>
                      <a:lnTo>
                        <a:pt x="207586" y="101355"/>
                      </a:lnTo>
                      <a:lnTo>
                        <a:pt x="206570" y="100272"/>
                      </a:lnTo>
                      <a:cubicBezTo>
                        <a:pt x="206570" y="100272"/>
                        <a:pt x="206231" y="100712"/>
                        <a:pt x="205689" y="101355"/>
                      </a:cubicBezTo>
                      <a:cubicBezTo>
                        <a:pt x="197460" y="110668"/>
                        <a:pt x="184321" y="114393"/>
                        <a:pt x="166441" y="114393"/>
                      </a:cubicBezTo>
                      <a:cubicBezTo>
                        <a:pt x="149949" y="114393"/>
                        <a:pt x="138029" y="108738"/>
                        <a:pt x="130037" y="98917"/>
                      </a:cubicBezTo>
                      <a:cubicBezTo>
                        <a:pt x="128683" y="97258"/>
                        <a:pt x="127464" y="95497"/>
                        <a:pt x="126346" y="9363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89"/>
                </a:p>
              </p:txBody>
            </p:sp>
            <p:sp>
              <p:nvSpPr>
                <p:cNvPr id="2100" name="Google Shape;2100;p163"/>
                <p:cNvSpPr/>
                <p:nvPr/>
              </p:nvSpPr>
              <p:spPr>
                <a:xfrm>
                  <a:off x="2962100" y="3350200"/>
                  <a:ext cx="453800" cy="100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2" h="40232" extrusionOk="0">
                      <a:moveTo>
                        <a:pt x="9076" y="1"/>
                      </a:moveTo>
                      <a:cubicBezTo>
                        <a:pt x="14088" y="1"/>
                        <a:pt x="18152" y="4064"/>
                        <a:pt x="18152" y="9076"/>
                      </a:cubicBezTo>
                      <a:lnTo>
                        <a:pt x="18152" y="31156"/>
                      </a:lnTo>
                      <a:cubicBezTo>
                        <a:pt x="18152" y="36167"/>
                        <a:pt x="14088" y="40231"/>
                        <a:pt x="9076" y="40231"/>
                      </a:cubicBezTo>
                      <a:cubicBezTo>
                        <a:pt x="4064" y="40231"/>
                        <a:pt x="1" y="36167"/>
                        <a:pt x="1" y="31156"/>
                      </a:cubicBezTo>
                      <a:lnTo>
                        <a:pt x="1" y="9076"/>
                      </a:lnTo>
                      <a:cubicBezTo>
                        <a:pt x="1" y="4064"/>
                        <a:pt x="4064" y="1"/>
                        <a:pt x="907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89"/>
                </a:p>
              </p:txBody>
            </p:sp>
            <p:sp>
              <p:nvSpPr>
                <p:cNvPr id="2101" name="Google Shape;2101;p163"/>
                <p:cNvSpPr/>
                <p:nvPr/>
              </p:nvSpPr>
              <p:spPr>
                <a:xfrm>
                  <a:off x="4194750" y="3350200"/>
                  <a:ext cx="453800" cy="100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2" h="40232" extrusionOk="0">
                      <a:moveTo>
                        <a:pt x="9076" y="1"/>
                      </a:moveTo>
                      <a:cubicBezTo>
                        <a:pt x="14088" y="1"/>
                        <a:pt x="18152" y="4064"/>
                        <a:pt x="18152" y="9076"/>
                      </a:cubicBezTo>
                      <a:lnTo>
                        <a:pt x="18152" y="31156"/>
                      </a:lnTo>
                      <a:cubicBezTo>
                        <a:pt x="18152" y="36167"/>
                        <a:pt x="14088" y="40231"/>
                        <a:pt x="9076" y="40231"/>
                      </a:cubicBezTo>
                      <a:cubicBezTo>
                        <a:pt x="4064" y="40231"/>
                        <a:pt x="1" y="36167"/>
                        <a:pt x="1" y="31156"/>
                      </a:cubicBezTo>
                      <a:lnTo>
                        <a:pt x="1" y="9076"/>
                      </a:lnTo>
                      <a:cubicBezTo>
                        <a:pt x="1" y="4064"/>
                        <a:pt x="4064" y="1"/>
                        <a:pt x="907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867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89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031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10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23 GitHub Presentation Template">
  <a:themeElements>
    <a:clrScheme name="Simple Dark">
      <a:dk1>
        <a:srgbClr val="FFFFFF"/>
      </a:dk1>
      <a:lt1>
        <a:srgbClr val="0D1117"/>
      </a:lt1>
      <a:dk2>
        <a:srgbClr val="21262D"/>
      </a:dk2>
      <a:lt2>
        <a:srgbClr val="8B949E"/>
      </a:lt2>
      <a:accent1>
        <a:srgbClr val="56D364"/>
      </a:accent1>
      <a:accent2>
        <a:srgbClr val="33B3AE"/>
      </a:accent2>
      <a:accent3>
        <a:srgbClr val="58A6FF"/>
      </a:accent3>
      <a:accent4>
        <a:srgbClr val="BC8CFF"/>
      </a:accent4>
      <a:accent5>
        <a:srgbClr val="F778BA"/>
      </a:accent5>
      <a:accent6>
        <a:srgbClr val="FF7B72"/>
      </a:accent6>
      <a:hlink>
        <a:srgbClr val="FFFFFF"/>
      </a:hlink>
      <a:folHlink>
        <a:srgbClr val="4DD0E1"/>
      </a:folHlink>
    </a:clrScheme>
    <a:fontScheme name="Custom 1">
      <a:majorFont>
        <a:latin typeface="Arial"/>
        <a:ea typeface=""/>
        <a:cs typeface=""/>
      </a:majorFont>
      <a:minorFont>
        <a:latin typeface="Calibri n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11675</TotalTime>
  <Words>408</Words>
  <Application>Microsoft Office PowerPoint</Application>
  <PresentationFormat>Widescreen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Roboto Mono</vt:lpstr>
      <vt:lpstr>Roboto</vt:lpstr>
      <vt:lpstr>Roboto Light</vt:lpstr>
      <vt:lpstr>Arial</vt:lpstr>
      <vt:lpstr>Inter</vt:lpstr>
      <vt:lpstr>2023 GitHub Presentation Template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NagarajuM</dc:creator>
  <cp:lastModifiedBy>Nagaraju Matta</cp:lastModifiedBy>
  <cp:revision>36</cp:revision>
  <dcterms:modified xsi:type="dcterms:W3CDTF">2026-05-12T19:41:02Z</dcterms:modified>
</cp:coreProperties>
</file>